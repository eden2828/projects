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48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viv narkiss" userId="af59a53cb032bf7b" providerId="LiveId" clId="{3E11C23E-0C26-4669-98E0-AE70BDFFA548}"/>
    <pc:docChg chg="undo custSel delSld modSld">
      <pc:chgData name="aviv narkiss" userId="af59a53cb032bf7b" providerId="LiveId" clId="{3E11C23E-0C26-4669-98E0-AE70BDFFA548}" dt="2026-06-11T08:18:51.846" v="71" actId="47"/>
      <pc:docMkLst>
        <pc:docMk/>
      </pc:docMkLst>
      <pc:sldChg chg="delSp modSp mod">
        <pc:chgData name="aviv narkiss" userId="af59a53cb032bf7b" providerId="LiveId" clId="{3E11C23E-0C26-4669-98E0-AE70BDFFA548}" dt="2026-06-11T08:16:53.283" v="2" actId="478"/>
        <pc:sldMkLst>
          <pc:docMk/>
          <pc:sldMk cId="0" sldId="256"/>
        </pc:sldMkLst>
        <pc:spChg chg="mod">
          <ac:chgData name="aviv narkiss" userId="af59a53cb032bf7b" providerId="LiveId" clId="{3E11C23E-0C26-4669-98E0-AE70BDFFA548}" dt="2026-06-11T08:16:48.091" v="0" actId="20577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aviv narkiss" userId="af59a53cb032bf7b" providerId="LiveId" clId="{3E11C23E-0C26-4669-98E0-AE70BDFFA548}" dt="2026-06-11T08:16:53.283" v="2" actId="478"/>
          <ac:spMkLst>
            <pc:docMk/>
            <pc:sldMk cId="0" sldId="256"/>
            <ac:spMk id="11" creationId="{00000000-0000-0000-0000-000000000000}"/>
          </ac:spMkLst>
        </pc:spChg>
      </pc:sldChg>
      <pc:sldChg chg="modSp mod">
        <pc:chgData name="aviv narkiss" userId="af59a53cb032bf7b" providerId="LiveId" clId="{3E11C23E-0C26-4669-98E0-AE70BDFFA548}" dt="2026-06-11T08:17:48.669" v="65" actId="20577"/>
        <pc:sldMkLst>
          <pc:docMk/>
          <pc:sldMk cId="0" sldId="257"/>
        </pc:sldMkLst>
        <pc:spChg chg="mod">
          <ac:chgData name="aviv narkiss" userId="af59a53cb032bf7b" providerId="LiveId" clId="{3E11C23E-0C26-4669-98E0-AE70BDFFA548}" dt="2026-06-11T08:17:25.075" v="49" actId="20577"/>
          <ac:spMkLst>
            <pc:docMk/>
            <pc:sldMk cId="0" sldId="257"/>
            <ac:spMk id="4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17:31.291" v="59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17:42.334" v="62" actId="20577"/>
          <ac:spMkLst>
            <pc:docMk/>
            <pc:sldMk cId="0" sldId="257"/>
            <ac:spMk id="9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17:44.230" v="63" actId="20577"/>
          <ac:spMkLst>
            <pc:docMk/>
            <pc:sldMk cId="0" sldId="257"/>
            <ac:spMk id="14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17:46.481" v="64" actId="20577"/>
          <ac:spMkLst>
            <pc:docMk/>
            <pc:sldMk cId="0" sldId="257"/>
            <ac:spMk id="19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17:40.450" v="61" actId="20577"/>
          <ac:spMkLst>
            <pc:docMk/>
            <pc:sldMk cId="0" sldId="257"/>
            <ac:spMk id="24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17:37.864" v="60" actId="20577"/>
          <ac:spMkLst>
            <pc:docMk/>
            <pc:sldMk cId="0" sldId="257"/>
            <ac:spMk id="29" creationId="{00000000-0000-0000-0000-000000000000}"/>
          </ac:spMkLst>
        </pc:spChg>
        <pc:spChg chg="mod">
          <ac:chgData name="aviv narkiss" userId="af59a53cb032bf7b" providerId="LiveId" clId="{3E11C23E-0C26-4669-98E0-AE70BDFFA548}" dt="2026-06-11T08:17:48.669" v="65" actId="20577"/>
          <ac:spMkLst>
            <pc:docMk/>
            <pc:sldMk cId="0" sldId="257"/>
            <ac:spMk id="34" creationId="{00000000-0000-0000-0000-000000000000}"/>
          </ac:spMkLst>
        </pc:spChg>
      </pc:sldChg>
      <pc:sldChg chg="modSp del mod">
        <pc:chgData name="aviv narkiss" userId="af59a53cb032bf7b" providerId="LiveId" clId="{3E11C23E-0C26-4669-98E0-AE70BDFFA548}" dt="2026-06-11T08:18:48.360" v="70" actId="47"/>
        <pc:sldMkLst>
          <pc:docMk/>
          <pc:sldMk cId="0" sldId="259"/>
        </pc:sldMkLst>
        <pc:graphicFrameChg chg="modGraphic">
          <ac:chgData name="aviv narkiss" userId="af59a53cb032bf7b" providerId="LiveId" clId="{3E11C23E-0C26-4669-98E0-AE70BDFFA548}" dt="2026-06-11T08:18:06.058" v="67" actId="20577"/>
          <ac:graphicFrameMkLst>
            <pc:docMk/>
            <pc:sldMk cId="0" sldId="259"/>
            <ac:graphicFrameMk id="5" creationId="{00000000-0000-0000-0000-000000000000}"/>
          </ac:graphicFrameMkLst>
        </pc:graphicFrameChg>
      </pc:sldChg>
      <pc:sldChg chg="modSp del mod">
        <pc:chgData name="aviv narkiss" userId="af59a53cb032bf7b" providerId="LiveId" clId="{3E11C23E-0C26-4669-98E0-AE70BDFFA548}" dt="2026-06-11T08:18:51.846" v="71" actId="47"/>
        <pc:sldMkLst>
          <pc:docMk/>
          <pc:sldMk cId="0" sldId="260"/>
        </pc:sldMkLst>
        <pc:spChg chg="mod">
          <ac:chgData name="aviv narkiss" userId="af59a53cb032bf7b" providerId="LiveId" clId="{3E11C23E-0C26-4669-98E0-AE70BDFFA548}" dt="2026-06-11T08:18:20.139" v="68" actId="20577"/>
          <ac:spMkLst>
            <pc:docMk/>
            <pc:sldMk cId="0" sldId="260"/>
            <ac:spMk id="4" creationId="{00000000-0000-0000-0000-000000000000}"/>
          </ac:spMkLst>
        </pc:spChg>
      </pc:sldChg>
      <pc:sldChg chg="del">
        <pc:chgData name="aviv narkiss" userId="af59a53cb032bf7b" providerId="LiveId" clId="{3E11C23E-0C26-4669-98E0-AE70BDFFA548}" dt="2026-06-11T08:18:38.526" v="69" actId="47"/>
        <pc:sldMkLst>
          <pc:docMk/>
          <pc:sldMk cId="0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השקעה</c:v>
                </c:pt>
              </c:strCache>
            </c:strRef>
          </c:tx>
          <c:spPr>
            <a:solidFill>
              <a:srgbClr val="7A9B52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7A9B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0DE-44F3-9FDC-E87E5D8B421C}"/>
              </c:ext>
            </c:extLst>
          </c:dPt>
          <c:dPt>
            <c:idx val="1"/>
            <c:invertIfNegative val="0"/>
            <c:bubble3D val="0"/>
            <c:spPr>
              <a:solidFill>
                <a:srgbClr val="D0703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0DE-44F3-9FDC-E87E5D8B421C}"/>
              </c:ext>
            </c:extLst>
          </c:dPt>
          <c:dPt>
            <c:idx val="2"/>
            <c:invertIfNegative val="0"/>
            <c:bubble3D val="0"/>
            <c:spPr>
              <a:solidFill>
                <a:srgbClr val="C8A84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0DE-44F3-9FDC-E87E5D8B421C}"/>
              </c:ext>
            </c:extLst>
          </c:dPt>
          <c:dPt>
            <c:idx val="3"/>
            <c:invertIfNegative val="0"/>
            <c:bubble3D val="0"/>
            <c:spPr>
              <a:solidFill>
                <a:srgbClr val="3D7CB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0DE-44F3-9FDC-E87E5D8B421C}"/>
              </c:ext>
            </c:extLst>
          </c:dPt>
          <c:dPt>
            <c:idx val="4"/>
            <c:invertIfNegative val="0"/>
            <c:bubble3D val="0"/>
            <c:spPr>
              <a:solidFill>
                <a:srgbClr val="B8404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0DE-44F3-9FDC-E87E5D8B421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 i="0" u="none" strike="noStrike">
                    <a:solidFill>
                      <a:srgbClr val="1E1E1E"/>
                    </a:solidFill>
                    <a:latin typeface="Arial"/>
                  </a:defRPr>
                </a:pPr>
                <a:endParaRPr lang="en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בוקר באסיף – הזמנת מקום</c:v>
                </c:pt>
                <c:pt idx="1">
                  <c:v>אירועים – לידים לעמוד נחיתה</c:v>
                </c:pt>
                <c:pt idx="2">
                  <c:v>הזמנת מקום – טראפיק</c:v>
                </c:pt>
                <c:pt idx="3">
                  <c:v>גיוס עובדים – מסרים</c:v>
                </c:pt>
                <c:pt idx="4">
                  <c:v>מודעות מותג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1179.94</c:v>
                </c:pt>
                <c:pt idx="1">
                  <c:v>1243.3399999999999</c:v>
                </c:pt>
                <c:pt idx="2">
                  <c:v>50.27</c:v>
                </c:pt>
                <c:pt idx="3">
                  <c:v>539.03</c:v>
                </c:pt>
                <c:pt idx="4">
                  <c:v>142.56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0DE-44F3-9FDC-E87E5D8B42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18369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4E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371600"/>
            <a:ext cx="3657600" cy="3657600"/>
          </a:xfrm>
          <a:prstGeom prst="ellipse">
            <a:avLst/>
          </a:prstGeom>
          <a:solidFill>
            <a:srgbClr val="4A6234">
              <a:alpha val="40000"/>
            </a:srgbClr>
          </a:solidFill>
          <a:ln w="12700">
            <a:solidFill>
              <a:srgbClr val="4A623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7772400" y="-731520"/>
            <a:ext cx="2286000" cy="2286000"/>
          </a:xfrm>
          <a:prstGeom prst="ellipse">
            <a:avLst/>
          </a:prstGeom>
          <a:solidFill>
            <a:srgbClr val="7A9B52">
              <a:alpha val="30000"/>
            </a:srgbClr>
          </a:solidFill>
          <a:ln w="12700">
            <a:solidFill>
              <a:srgbClr val="7A9B5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1371600" cy="1371600"/>
          </a:xfrm>
          <a:prstGeom prst="ellipse">
            <a:avLst/>
          </a:prstGeom>
          <a:solidFill>
            <a:srgbClr val="FFFFFF">
              <a:alpha val="85000"/>
            </a:srgbClr>
          </a:solidFill>
          <a:ln w="254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אסיף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645920"/>
            <a:ext cx="8595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דוח ביצועי פרסום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274320" y="25603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5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5200" b="1" dirty="0" err="1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</a:t>
            </a:r>
            <a:r>
              <a:rPr lang="en-US" sz="5200" b="1" dirty="0">
                <a:solidFill>
                  <a:srgbClr val="C8A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2026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2286000" y="3383280"/>
            <a:ext cx="4572000" cy="36576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0" name="Text 8"/>
          <p:cNvSpPr/>
          <p:nvPr/>
        </p:nvSpPr>
        <p:spPr>
          <a:xfrm>
            <a:off x="274320" y="352044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8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Ads  |  01/05/2026 – 31/05/2026  |  Think Digital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6234"/>
          </a:solidFill>
          <a:ln w="12700">
            <a:solidFill>
              <a:srgbClr val="4A623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82880" y="10972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מאי 2026 – סיכום ביצועים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228600" y="960120"/>
            <a:ext cx="2651760" cy="73152"/>
          </a:xfrm>
          <a:prstGeom prst="rect">
            <a:avLst/>
          </a:prstGeom>
          <a:solidFill>
            <a:srgbClr val="4A6234"/>
          </a:solidFill>
          <a:ln w="12700">
            <a:solidFill>
              <a:srgbClr val="4A623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228600" y="1097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$3,155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" y="16733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he-IL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סה"כ השקעה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28600" y="20391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063240" y="9601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1" name="Shape 9"/>
          <p:cNvSpPr/>
          <p:nvPr/>
        </p:nvSpPr>
        <p:spPr>
          <a:xfrm>
            <a:off x="3063240" y="960120"/>
            <a:ext cx="2651760" cy="73152"/>
          </a:xfrm>
          <a:prstGeom prst="rect">
            <a:avLst/>
          </a:prstGeom>
          <a:solidFill>
            <a:srgbClr val="7A9B52"/>
          </a:solidFill>
          <a:ln w="12700">
            <a:solidFill>
              <a:srgbClr val="7A9B5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2" name="Text 10"/>
          <p:cNvSpPr/>
          <p:nvPr/>
        </p:nvSpPr>
        <p:spPr>
          <a:xfrm>
            <a:off x="3063240" y="1097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110,218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063240" y="16733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 ייחודית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63240" y="20391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97880" y="96012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16" name="Shape 14"/>
          <p:cNvSpPr/>
          <p:nvPr/>
        </p:nvSpPr>
        <p:spPr>
          <a:xfrm>
            <a:off x="5897880" y="960120"/>
            <a:ext cx="2651760" cy="73152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17" name="Text 15"/>
          <p:cNvSpPr/>
          <p:nvPr/>
        </p:nvSpPr>
        <p:spPr>
          <a:xfrm>
            <a:off x="5897880" y="10972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313,619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897880" y="16733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חשיפות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897880" y="203911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514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1" name="Shape 19"/>
          <p:cNvSpPr/>
          <p:nvPr/>
        </p:nvSpPr>
        <p:spPr>
          <a:xfrm>
            <a:off x="228600" y="2514600"/>
            <a:ext cx="2651760" cy="73152"/>
          </a:xfrm>
          <a:prstGeom prst="rect">
            <a:avLst/>
          </a:prstGeom>
          <a:solidFill>
            <a:srgbClr val="D07030"/>
          </a:solidFill>
          <a:ln w="12700">
            <a:solidFill>
              <a:srgbClr val="D070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2" name="Text 20"/>
          <p:cNvSpPr/>
          <p:nvPr/>
        </p:nvSpPr>
        <p:spPr>
          <a:xfrm>
            <a:off x="228600" y="2651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2,354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28600" y="3227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28600" y="35935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63240" y="2514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6" name="Shape 24"/>
          <p:cNvSpPr/>
          <p:nvPr/>
        </p:nvSpPr>
        <p:spPr>
          <a:xfrm>
            <a:off x="3063240" y="2514600"/>
            <a:ext cx="2651760" cy="73152"/>
          </a:xfrm>
          <a:prstGeom prst="rect">
            <a:avLst/>
          </a:prstGeom>
          <a:solidFill>
            <a:srgbClr val="3D7CB5"/>
          </a:solidFill>
          <a:ln w="12700">
            <a:solidFill>
              <a:srgbClr val="3D7C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7" name="Text 25"/>
          <p:cNvSpPr/>
          <p:nvPr/>
        </p:nvSpPr>
        <p:spPr>
          <a:xfrm>
            <a:off x="3063240" y="2651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3063240" y="3227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לידים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063240" y="35935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97880" y="2514600"/>
            <a:ext cx="265176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31" name="Shape 29"/>
          <p:cNvSpPr/>
          <p:nvPr/>
        </p:nvSpPr>
        <p:spPr>
          <a:xfrm>
            <a:off x="5897880" y="2514600"/>
            <a:ext cx="2651760" cy="73152"/>
          </a:xfrm>
          <a:prstGeom prst="rect">
            <a:avLst/>
          </a:prstGeom>
          <a:solidFill>
            <a:srgbClr val="B84040"/>
          </a:solidFill>
          <a:ln w="12700">
            <a:solidFill>
              <a:srgbClr val="B840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2" name="Text 30"/>
          <p:cNvSpPr/>
          <p:nvPr/>
        </p:nvSpPr>
        <p:spPr>
          <a:xfrm>
            <a:off x="5897880" y="26517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5897880" y="322783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שיחות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897880" y="359359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4A6234"/>
          </a:solidFill>
          <a:ln w="12700">
            <a:solidFill>
              <a:srgbClr val="4A623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6" name="Text 3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Digital  |  מאי 2026  |  מסעדת אסיף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6234"/>
          </a:solidFill>
          <a:ln w="12700">
            <a:solidFill>
              <a:srgbClr val="4A623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82880" y="10972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השקעה לפי קמפיין</a:t>
            </a:r>
            <a:endParaRPr lang="en-US" sz="2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68680"/>
          <a:ext cx="8595360" cy="3840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4A6234"/>
          </a:solidFill>
          <a:ln w="12700">
            <a:solidFill>
              <a:srgbClr val="4A623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4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Digital  |  מאי 2026  |  מסעדת אסיף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4A6234"/>
          </a:solidFill>
          <a:ln w="12700">
            <a:solidFill>
              <a:srgbClr val="4A623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" name="Text 2"/>
          <p:cNvSpPr/>
          <p:nvPr/>
        </p:nvSpPr>
        <p:spPr>
          <a:xfrm>
            <a:off x="182880" y="109728"/>
            <a:ext cx="8778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פירוט קמפיינים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" y="89611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743200" cy="457200"/>
          </a:xfrm>
          <a:prstGeom prst="rect">
            <a:avLst/>
          </a:prstGeom>
          <a:solidFill>
            <a:srgbClr val="7A9B52"/>
          </a:solidFill>
          <a:ln w="12700">
            <a:solidFill>
              <a:srgbClr val="7A9B5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" name="Text 5"/>
          <p:cNvSpPr/>
          <p:nvPr/>
        </p:nvSpPr>
        <p:spPr>
          <a:xfrm>
            <a:off x="320040" y="9509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בוקר באסיף – הזמנת מקום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99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$1,180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הוצאה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1234440" y="1399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57,683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3444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148840" y="1399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1,604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4884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320040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" y="2295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1234440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$6.66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295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148840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לידים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48840" y="2295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57200" y="2468880"/>
            <a:ext cx="2468880" cy="201168"/>
          </a:xfrm>
          <a:prstGeom prst="rect">
            <a:avLst/>
          </a:prstGeom>
          <a:solidFill>
            <a:srgbClr val="7A9B52">
              <a:alpha val="15000"/>
            </a:srgbClr>
          </a:solidFill>
          <a:ln w="12700">
            <a:solidFill>
              <a:srgbClr val="7A9B52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1" name="Text 19"/>
          <p:cNvSpPr/>
          <p:nvPr/>
        </p:nvSpPr>
        <p:spPr>
          <a:xfrm>
            <a:off x="457200" y="2468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A9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לתוצאה: $19.03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00400" y="89611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23" name="Shape 21"/>
          <p:cNvSpPr/>
          <p:nvPr/>
        </p:nvSpPr>
        <p:spPr>
          <a:xfrm>
            <a:off x="3200400" y="896112"/>
            <a:ext cx="2743200" cy="457200"/>
          </a:xfrm>
          <a:prstGeom prst="rect">
            <a:avLst/>
          </a:prstGeom>
          <a:solidFill>
            <a:srgbClr val="D07030"/>
          </a:solidFill>
          <a:ln w="12700">
            <a:solidFill>
              <a:srgbClr val="D070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24" name="Text 22"/>
          <p:cNvSpPr/>
          <p:nvPr/>
        </p:nvSpPr>
        <p:spPr>
          <a:xfrm>
            <a:off x="3200400" y="9509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אירועים – לידים לעמוד נחיתה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200400" y="1399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$1,243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הוצאה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4114800" y="1399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23,642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029200" y="1399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200400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2295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4114800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$19.10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114800" y="2295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5029200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לידים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29200" y="2295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337560" y="2468880"/>
            <a:ext cx="2468880" cy="201168"/>
          </a:xfrm>
          <a:prstGeom prst="rect">
            <a:avLst/>
          </a:prstGeom>
          <a:solidFill>
            <a:srgbClr val="D07030">
              <a:alpha val="15000"/>
            </a:srgbClr>
          </a:solidFill>
          <a:ln w="12700">
            <a:solidFill>
              <a:srgbClr val="D0703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38" name="Text 36"/>
          <p:cNvSpPr/>
          <p:nvPr/>
        </p:nvSpPr>
        <p:spPr>
          <a:xfrm>
            <a:off x="3337560" y="2468880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07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לתוצאה: $42.87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080760" y="896112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40" name="Shape 38"/>
          <p:cNvSpPr/>
          <p:nvPr/>
        </p:nvSpPr>
        <p:spPr>
          <a:xfrm>
            <a:off x="6080760" y="896112"/>
            <a:ext cx="2743200" cy="45720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41" name="Text 39"/>
          <p:cNvSpPr/>
          <p:nvPr/>
        </p:nvSpPr>
        <p:spPr>
          <a:xfrm>
            <a:off x="6080760" y="95097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הזמנת מקום – טראפיק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80760" y="1399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08076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הוצאה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6995160" y="1399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5,043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99516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909560" y="13990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909560" y="170078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6080760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1.08%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080760" y="2295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6995160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$7.31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95160" y="2295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909560" y="199339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909560" y="2295144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760220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55" name="Shape 53"/>
          <p:cNvSpPr/>
          <p:nvPr/>
        </p:nvSpPr>
        <p:spPr>
          <a:xfrm>
            <a:off x="1760220" y="2834640"/>
            <a:ext cx="2743200" cy="457200"/>
          </a:xfrm>
          <a:prstGeom prst="rect">
            <a:avLst/>
          </a:prstGeom>
          <a:solidFill>
            <a:srgbClr val="3D7CB5"/>
          </a:solidFill>
          <a:ln w="12700">
            <a:solidFill>
              <a:srgbClr val="3D7C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56" name="Text 54"/>
          <p:cNvSpPr/>
          <p:nvPr/>
        </p:nvSpPr>
        <p:spPr>
          <a:xfrm>
            <a:off x="1760220" y="28895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גיוס עובדים – מסרים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76022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$539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760220" y="3639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הוצאה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267462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19,008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674620" y="3639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750" dirty="0"/>
          </a:p>
        </p:txBody>
      </p:sp>
      <p:sp>
        <p:nvSpPr>
          <p:cNvPr id="61" name="Text 59"/>
          <p:cNvSpPr/>
          <p:nvPr/>
        </p:nvSpPr>
        <p:spPr>
          <a:xfrm>
            <a:off x="358902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3589020" y="3639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176022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0.30%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760220" y="42336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750" dirty="0"/>
          </a:p>
        </p:txBody>
      </p:sp>
      <p:sp>
        <p:nvSpPr>
          <p:cNvPr id="65" name="Text 63"/>
          <p:cNvSpPr/>
          <p:nvPr/>
        </p:nvSpPr>
        <p:spPr>
          <a:xfrm>
            <a:off x="267462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$9.98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2674620" y="42336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750" dirty="0"/>
          </a:p>
        </p:txBody>
      </p:sp>
      <p:sp>
        <p:nvSpPr>
          <p:cNvPr id="67" name="Text 65"/>
          <p:cNvSpPr/>
          <p:nvPr/>
        </p:nvSpPr>
        <p:spPr>
          <a:xfrm>
            <a:off x="358902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שיחות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3589020" y="42336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1897380" y="4407408"/>
            <a:ext cx="2468880" cy="201168"/>
          </a:xfrm>
          <a:prstGeom prst="rect">
            <a:avLst/>
          </a:prstGeom>
          <a:solidFill>
            <a:srgbClr val="3D7CB5">
              <a:alpha val="15000"/>
            </a:srgbClr>
          </a:solidFill>
          <a:ln w="12700">
            <a:solidFill>
              <a:srgbClr val="3D7CB5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0" name="Text 68"/>
          <p:cNvSpPr/>
          <p:nvPr/>
        </p:nvSpPr>
        <p:spPr>
          <a:xfrm>
            <a:off x="1897380" y="4407408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7C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עלות לתוצאה: $12.83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4640580" y="283464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8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L"/>
          </a:p>
        </p:txBody>
      </p:sp>
      <p:sp>
        <p:nvSpPr>
          <p:cNvPr id="72" name="Shape 70"/>
          <p:cNvSpPr/>
          <p:nvPr/>
        </p:nvSpPr>
        <p:spPr>
          <a:xfrm>
            <a:off x="4640580" y="2834640"/>
            <a:ext cx="2743200" cy="457200"/>
          </a:xfrm>
          <a:prstGeom prst="rect">
            <a:avLst/>
          </a:prstGeom>
          <a:solidFill>
            <a:srgbClr val="B84040"/>
          </a:solidFill>
          <a:ln w="12700">
            <a:solidFill>
              <a:srgbClr val="B84040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73" name="Text 71"/>
          <p:cNvSpPr/>
          <p:nvPr/>
        </p:nvSpPr>
        <p:spPr>
          <a:xfrm>
            <a:off x="4640580" y="288950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מודעות מותג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464058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$143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4640580" y="3639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הוצאה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555498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4,842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5554980" y="3639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חשיפה</a:t>
            </a:r>
            <a:endParaRPr lang="en-US" sz="750" dirty="0"/>
          </a:p>
        </p:txBody>
      </p:sp>
      <p:sp>
        <p:nvSpPr>
          <p:cNvPr id="78" name="Text 76"/>
          <p:cNvSpPr/>
          <p:nvPr/>
        </p:nvSpPr>
        <p:spPr>
          <a:xfrm>
            <a:off x="6469380" y="3337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</a:t>
            </a:r>
            <a:endParaRPr lang="en-US" sz="1100" dirty="0"/>
          </a:p>
        </p:txBody>
      </p:sp>
      <p:sp>
        <p:nvSpPr>
          <p:cNvPr id="79" name="Text 77"/>
          <p:cNvSpPr/>
          <p:nvPr/>
        </p:nvSpPr>
        <p:spPr>
          <a:xfrm>
            <a:off x="6469380" y="363931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קליקים</a:t>
            </a:r>
            <a:endParaRPr lang="en-US" sz="750" dirty="0"/>
          </a:p>
        </p:txBody>
      </p:sp>
      <p:sp>
        <p:nvSpPr>
          <p:cNvPr id="80" name="Text 78"/>
          <p:cNvSpPr/>
          <p:nvPr/>
        </p:nvSpPr>
        <p:spPr>
          <a:xfrm>
            <a:off x="464058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0.56%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640580" y="42336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</a:t>
            </a:r>
            <a:endParaRPr lang="en-US" sz="750" dirty="0"/>
          </a:p>
        </p:txBody>
      </p:sp>
      <p:sp>
        <p:nvSpPr>
          <p:cNvPr id="82" name="Text 80"/>
          <p:cNvSpPr/>
          <p:nvPr/>
        </p:nvSpPr>
        <p:spPr>
          <a:xfrm>
            <a:off x="555498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$13.76</a:t>
            </a:r>
            <a:endParaRPr lang="en-US" sz="1100" dirty="0"/>
          </a:p>
        </p:txBody>
      </p:sp>
      <p:sp>
        <p:nvSpPr>
          <p:cNvPr id="83" name="Text 81"/>
          <p:cNvSpPr/>
          <p:nvPr/>
        </p:nvSpPr>
        <p:spPr>
          <a:xfrm>
            <a:off x="5554980" y="42336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</a:t>
            </a:r>
            <a:endParaRPr lang="en-US" sz="750" dirty="0"/>
          </a:p>
        </p:txBody>
      </p:sp>
      <p:sp>
        <p:nvSpPr>
          <p:cNvPr id="84" name="Text 82"/>
          <p:cNvSpPr/>
          <p:nvPr/>
        </p:nvSpPr>
        <p:spPr>
          <a:xfrm>
            <a:off x="646938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1E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6469380" y="4233672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תוצאה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4A6234"/>
          </a:solidFill>
          <a:ln w="12700">
            <a:solidFill>
              <a:srgbClr val="4A6234"/>
            </a:solidFill>
            <a:prstDash val="solid"/>
          </a:ln>
        </p:spPr>
        <p:txBody>
          <a:bodyPr/>
          <a:lstStyle/>
          <a:p>
            <a:endParaRPr lang="en-IL"/>
          </a:p>
        </p:txBody>
      </p:sp>
      <p:sp>
        <p:nvSpPr>
          <p:cNvPr id="87" name="Text 85"/>
          <p:cNvSpPr/>
          <p:nvPr/>
        </p:nvSpPr>
        <p:spPr>
          <a:xfrm>
            <a:off x="0" y="4905756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B8CC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Digital  |  מאי 2026  |  מסעדת אסיף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182</Words>
  <Application>Microsoft Office PowerPoint</Application>
  <PresentationFormat>On-screen Show (16:9)</PresentationFormat>
  <Paragraphs>94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אסיף – דוח ביצועים מאי 2026</dc:title>
  <dc:subject>PptxGenJS Presentation</dc:subject>
  <dc:creator>Think Digital</dc:creator>
  <cp:lastModifiedBy>aviv narkiss</cp:lastModifiedBy>
  <cp:revision>1</cp:revision>
  <dcterms:created xsi:type="dcterms:W3CDTF">2026-06-11T08:15:58Z</dcterms:created>
  <dcterms:modified xsi:type="dcterms:W3CDTF">2026-06-11T08:18:59Z</dcterms:modified>
</cp:coreProperties>
</file>